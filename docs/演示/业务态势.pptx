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E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2B4A"/>
                </a:solidFill>
                <a:latin typeface="Microsoft YaHei"/>
                <a:ea typeface="Microsoft YaHei"/>
              </a:rPr>
              <a:t>业务态势</a:t>
            </a:r>
            <a:r>
              <a:rPr sz="1500" b="0">
                <a:solidFill>
                  <a:srgbClr val="1E508C"/>
                </a:solidFill>
                <a:latin typeface="Microsoft YaHei"/>
                <a:ea typeface="Microsoft YaHei"/>
              </a:rPr>
              <a:t>　·　密信 / 签阅 / 境外通联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94944"/>
            <a:ext cx="8138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95B5F"/>
                </a:solidFill>
                <a:latin typeface="Microsoft YaHei"/>
                <a:ea typeface="Microsoft YaHei"/>
              </a:rPr>
              <a:t>业务主题态势聚焦密信传输、签阅流转与境外通联三大核心业务，提供业务量统计、流转状态追踪与链路健康监测。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320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07899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E508C"/>
                </a:solidFill>
                <a:latin typeface="Microsoft YaHei"/>
                <a:ea typeface="Microsoft YaHei"/>
              </a:rPr>
              <a:t>密信态势：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8256" y="1078992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Microsoft YaHei"/>
                <a:ea typeface="Microsoft YaHei"/>
              </a:rPr>
              <a:t>支持密信用户登录/登出状态监测，消息与文件收发量统计，分时业务趋势及国家排行实时展示；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91056"/>
            <a:ext cx="320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591056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E508C"/>
                </a:solidFill>
                <a:latin typeface="Microsoft YaHei"/>
                <a:ea typeface="Microsoft YaHei"/>
              </a:rPr>
              <a:t>签阅态势：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8256" y="1591056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Microsoft YaHei"/>
                <a:ea typeface="Microsoft YaHei"/>
              </a:rPr>
              <a:t>支持签阅文件收到、已处理、待处理、异常/退回流转状态统计，处理趋势及国家排行可视化；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03120"/>
            <a:ext cx="320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7D32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10312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E508C"/>
                </a:solidFill>
                <a:latin typeface="Microsoft YaHei"/>
                <a:ea typeface="Microsoft YaHei"/>
              </a:rPr>
              <a:t>境外通联：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48256" y="2103120"/>
            <a:ext cx="6583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B2B2B"/>
                </a:solidFill>
                <a:latin typeface="Microsoft YaHei"/>
                <a:ea typeface="Microsoft YaHei"/>
              </a:rPr>
              <a:t>支持境外共享链路（50 Mbps）上行/下行速率、链路利用率、累计流量与峰值监测，展示各国家流量占比。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24912"/>
            <a:ext cx="8138160" cy="18288"/>
          </a:xfrm>
          <a:prstGeom prst="rect">
            <a:avLst/>
          </a:prstGeom>
          <a:solidFill>
            <a:srgbClr val="C9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" y="2889504"/>
            <a:ext cx="4041648" cy="2321433"/>
          </a:xfrm>
          <a:prstGeom prst="rect">
            <a:avLst/>
          </a:prstGeom>
          <a:solidFill>
            <a:srgbClr val="FFFFFF"/>
          </a:solidFill>
          <a:ln w="12700">
            <a:solidFill>
              <a:srgbClr val="C9C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usiness-1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944368"/>
            <a:ext cx="3931920" cy="221170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5302377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508C"/>
                </a:solidFill>
                <a:latin typeface="Microsoft YaHei"/>
                <a:ea typeface="Microsoft YaHei"/>
              </a:rPr>
              <a:t>密信态势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558409"/>
            <a:ext cx="3931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C90"/>
                </a:solidFill>
                <a:latin typeface="Microsoft YaHei"/>
                <a:ea typeface="Microsoft YaHei"/>
              </a:rPr>
              <a:t>登录状态 · 消息/文件收发 · 分时趋势 · 国家排行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54296" y="2889504"/>
            <a:ext cx="4041648" cy="2321433"/>
          </a:xfrm>
          <a:prstGeom prst="rect">
            <a:avLst/>
          </a:prstGeom>
          <a:solidFill>
            <a:srgbClr val="FFFFFF"/>
          </a:solidFill>
          <a:ln w="12700">
            <a:solidFill>
              <a:srgbClr val="C9C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usiness-signing-19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59" y="2944368"/>
            <a:ext cx="3931920" cy="221170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709159" y="5302377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508C"/>
                </a:solidFill>
                <a:latin typeface="Microsoft YaHei"/>
                <a:ea typeface="Microsoft YaHei"/>
              </a:rPr>
              <a:t>签阅态势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59" y="5558409"/>
            <a:ext cx="3931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8A8C90"/>
                </a:solidFill>
                <a:latin typeface="Microsoft YaHei"/>
                <a:ea typeface="Microsoft YaHei"/>
              </a:rPr>
              <a:t>收到/已处理/待处理/异常退回 · 处理趋势 · 国家排行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55080"/>
            <a:ext cx="8138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C90"/>
                </a:solidFill>
                <a:latin typeface="Microsoft YaHei"/>
                <a:ea typeface="Microsoft YaHei"/>
              </a:rPr>
              <a:t>数据为模拟演示场景，与综合态势页、人员装备详情一致；指标口径闭合：密信 20 − 3 = 17，签阅 68 = 54 + 11 + 3，链路利用率 = max(上下行) / 50 Mbps。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